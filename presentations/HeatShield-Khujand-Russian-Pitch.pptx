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81e28cc9b946e3" /><Relationship Type="http://schemas.openxmlformats.org/officeDocument/2006/relationships/extended-properties" Target="/docProps/app.xml" Id="Ra6bc8a2eadb44717" /><Relationship Type="http://schemas.openxmlformats.org/officeDocument/2006/relationships/officeDocument" Target="/ppt/presentation.xml" Id="Ra6b58d3c0b0d44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c0504feedc45cc"/>
  </p:sldMasterIdLst>
  <p:notesMasterIdLst>
    <p:notesMasterId xmlns:r="http://schemas.openxmlformats.org/officeDocument/2006/relationships" r:id="Ra970c8721b8748a5"/>
  </p:notesMasterIdLst>
  <p:sldIdLst>
    <p:sldId xmlns:r="http://schemas.openxmlformats.org/officeDocument/2006/relationships" id="256" r:id="R279bd9f053bc46af"/>
    <p:sldId xmlns:r="http://schemas.openxmlformats.org/officeDocument/2006/relationships" id="257" r:id="Raa6efb06d2af424b"/>
    <p:sldId xmlns:r="http://schemas.openxmlformats.org/officeDocument/2006/relationships" id="258" r:id="Rcba1cc585c364837"/>
    <p:sldId xmlns:r="http://schemas.openxmlformats.org/officeDocument/2006/relationships" id="259" r:id="Rec67a36d86894d62"/>
    <p:sldId xmlns:r="http://schemas.openxmlformats.org/officeDocument/2006/relationships" id="260" r:id="Rb403804a77084b26"/>
    <p:sldId xmlns:r="http://schemas.openxmlformats.org/officeDocument/2006/relationships" id="261" r:id="R5b8a26247f7d436b"/>
    <p:sldId xmlns:r="http://schemas.openxmlformats.org/officeDocument/2006/relationships" id="262" r:id="R41bea41d603846cf"/>
    <p:sldId xmlns:r="http://schemas.openxmlformats.org/officeDocument/2006/relationships" id="263" r:id="R08d97b1036b849cf"/>
    <p:sldId xmlns:r="http://schemas.openxmlformats.org/officeDocument/2006/relationships" id="264" r:id="Re1adf9429ba34c84"/>
    <p:sldId xmlns:r="http://schemas.openxmlformats.org/officeDocument/2006/relationships" id="265" r:id="Rfc8ea57a8bf74f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f84252fd664403" /><Relationship Type="http://schemas.openxmlformats.org/officeDocument/2006/relationships/slideMaster" Target="/ppt/slideMasters/slideMaster1.xml" Id="Rd0c0504feedc45cc" /><Relationship Type="http://schemas.openxmlformats.org/officeDocument/2006/relationships/notesMaster" Target="/ppt/notesMasters/notesMaster1.xml" Id="Ra970c8721b8748a5" /><Relationship Type="http://schemas.openxmlformats.org/officeDocument/2006/relationships/presProps" Target="/ppt/presProps.xml" Id="R8c7ea04f54d64cf6" /><Relationship Type="http://schemas.openxmlformats.org/officeDocument/2006/relationships/viewProps" Target="/ppt/viewProps.xml" Id="Rc565d282968d4ebf" /><Relationship Type="http://schemas.openxmlformats.org/officeDocument/2006/relationships/tableStyles" Target="/ppt/tableStyles.xml" Id="Raf30d5fb58754231" /><Relationship Type="http://schemas.openxmlformats.org/officeDocument/2006/relationships/slide" Target="/ppt/slides/slide1.xml" Id="R279bd9f053bc46af" /><Relationship Type="http://schemas.openxmlformats.org/officeDocument/2006/relationships/slide" Target="/ppt/slides/slide2.xml" Id="Raa6efb06d2af424b" /><Relationship Type="http://schemas.openxmlformats.org/officeDocument/2006/relationships/slide" Target="/ppt/slides/slide3.xml" Id="Rcba1cc585c364837" /><Relationship Type="http://schemas.openxmlformats.org/officeDocument/2006/relationships/slide" Target="/ppt/slides/slide4.xml" Id="Rec67a36d86894d62" /><Relationship Type="http://schemas.openxmlformats.org/officeDocument/2006/relationships/slide" Target="/ppt/slides/slide5.xml" Id="Rb403804a77084b26" /><Relationship Type="http://schemas.openxmlformats.org/officeDocument/2006/relationships/slide" Target="/ppt/slides/slide6.xml" Id="R5b8a26247f7d436b" /><Relationship Type="http://schemas.openxmlformats.org/officeDocument/2006/relationships/slide" Target="/ppt/slides/slide7.xml" Id="R41bea41d603846cf" /><Relationship Type="http://schemas.openxmlformats.org/officeDocument/2006/relationships/slide" Target="/ppt/slides/slide8.xml" Id="R08d97b1036b849cf" /><Relationship Type="http://schemas.openxmlformats.org/officeDocument/2006/relationships/slide" Target="/ppt/slides/slide9.xml" Id="Re1adf9429ba34c84" /><Relationship Type="http://schemas.openxmlformats.org/officeDocument/2006/relationships/slide" Target="/ppt/slides/slide10.xml" Id="Rfc8ea57a8bf7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6c916a6173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940f4d3fbc4cc9" /><Relationship Type="http://schemas.openxmlformats.org/officeDocument/2006/relationships/notesMaster" Target="/ppt/notesMasters/notesMaster1.xml" Id="Rc698ca2d5bba48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8a6451e6ac48b2" /><Relationship Type="http://schemas.openxmlformats.org/officeDocument/2006/relationships/notesMaster" Target="/ppt/notesMasters/notesMaster1.xml" Id="Recae6b3cecd64d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6c3744d5984629" /><Relationship Type="http://schemas.openxmlformats.org/officeDocument/2006/relationships/notesMaster" Target="/ppt/notesMasters/notesMaster1.xml" Id="R31a3426619894c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76aab2095e4a4e" /><Relationship Type="http://schemas.openxmlformats.org/officeDocument/2006/relationships/notesMaster" Target="/ppt/notesMasters/notesMaster1.xml" Id="Rd99a6af618b346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8d6d7c627f48a1" /><Relationship Type="http://schemas.openxmlformats.org/officeDocument/2006/relationships/notesMaster" Target="/ppt/notesMasters/notesMaster1.xml" Id="R403eb63de89b41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925f2b39e94605" /><Relationship Type="http://schemas.openxmlformats.org/officeDocument/2006/relationships/notesMaster" Target="/ppt/notesMasters/notesMaster1.xml" Id="R04870e0ce1424d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3843cc0bed4994" /><Relationship Type="http://schemas.openxmlformats.org/officeDocument/2006/relationships/notesMaster" Target="/ppt/notesMasters/notesMaster1.xml" Id="R37978eee2f4b42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394c9d5702488d" /><Relationship Type="http://schemas.openxmlformats.org/officeDocument/2006/relationships/notesMaster" Target="/ppt/notesMasters/notesMaster1.xml" Id="Reda99e0637be49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3330b30b7e4122" /><Relationship Type="http://schemas.openxmlformats.org/officeDocument/2006/relationships/notesMaster" Target="/ppt/notesMasters/notesMaster1.xml" Id="Rb0bc6daebb9e40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7aae3c5b8b4c70" /><Relationship Type="http://schemas.openxmlformats.org/officeDocument/2006/relationships/notesMaster" Target="/ppt/notesMasters/notesMaster1.xml" Id="Rbbe57dd86826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3c2ed32cf4d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3b242e56f44a95" /><Relationship Type="http://schemas.openxmlformats.org/officeDocument/2006/relationships/slideLayout" Target="/ppt/slideLayouts/slideLayout1.xml" Id="Rbea07c7a19c441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07c7a19c441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ceab5c66c4ca9" /><Relationship Type="http://schemas.openxmlformats.org/officeDocument/2006/relationships/notesSlide" Target="/ppt/notesSlides/notesSlide1.xml" Id="R0aa64c8eff15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f273e57114999" /><Relationship Type="http://schemas.openxmlformats.org/officeDocument/2006/relationships/notesSlide" Target="/ppt/notesSlides/notesSlide2.xml" Id="R4f6360b1c8cc42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b774518b24026" /><Relationship Type="http://schemas.openxmlformats.org/officeDocument/2006/relationships/notesSlide" Target="/ppt/notesSlides/notesSlide3.xml" Id="R2395bdaa48254e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89277a707447d" /><Relationship Type="http://schemas.openxmlformats.org/officeDocument/2006/relationships/notesSlide" Target="/ppt/notesSlides/notesSlide4.xml" Id="Rc7d8c56a00a24a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336af24464771" /><Relationship Type="http://schemas.openxmlformats.org/officeDocument/2006/relationships/image" Target="/ppt/media/image.png" Id="R778d4981f2d04529" /><Relationship Type="http://schemas.openxmlformats.org/officeDocument/2006/relationships/notesSlide" Target="/ppt/notesSlides/notesSlide5.xml" Id="R201c10d9eb234c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1a50b6a2f4492" /><Relationship Type="http://schemas.openxmlformats.org/officeDocument/2006/relationships/image" Target="/ppt/media/image2.png" Id="R4e24d8a1a61c44d1" /><Relationship Type="http://schemas.openxmlformats.org/officeDocument/2006/relationships/notesSlide" Target="/ppt/notesSlides/notesSlide6.xml" Id="Rc4318120c46247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666ca23b643d5" /><Relationship Type="http://schemas.openxmlformats.org/officeDocument/2006/relationships/notesSlide" Target="/ppt/notesSlides/notesSlide7.xml" Id="R26d423b135f54e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c1248bf014133" /><Relationship Type="http://schemas.openxmlformats.org/officeDocument/2006/relationships/notesSlide" Target="/ppt/notesSlides/notesSlide8.xml" Id="R28325d39b2d44c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e94e2bb384998" /><Relationship Type="http://schemas.openxmlformats.org/officeDocument/2006/relationships/notesSlide" Target="/ppt/notesSlides/notesSlide9.xml" Id="R872655c34d3a4a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de6a2ac84459c" /><Relationship Type="http://schemas.openxmlformats.org/officeDocument/2006/relationships/notesSlide" Target="/ppt/notesSlides/notesSlide10.xml" Id="R7ddef0887b194b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3150177-3013-4772-A661-E3CD7AC3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573DA42-F10C-4601-B71C-9C7BE779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E0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75DFE4E-3CD2-415C-9C3A-7F055122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0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C6"/>
                </a:solidFill>
                <a:latin typeface="Aptos"/>
                <a:ea typeface="Aptos"/>
                <a:cs typeface="Aptos"/>
              </a:rPr>
              <a:t>HEATSHIELD KHUJAND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8C54D82-7870-4DB0-AC81-50D98EE9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Худжанду нужна система готовности к опасной жаре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43C54-EDB3-4C7D-BEB7-814C034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HeatShield соединяет неофициальный прогноз, официальную логику порога, городские hotspot-регионы и понятные инструкции для ранних действий.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45495588-D7C1-4D1B-8457-19711C3A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2E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3D7F8-2CAD-4AF5-8CD3-3501DC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960FD-C8C0-441A-84C5-8EF841DD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39.5°C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F1665-2778-4763-A806-F62E3B1F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официальный порог IFRC/Tajikistan EAP для Khujand/Sughd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3E1522DE-DA3A-425B-89E3-D3E3F8EE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686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2E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7403F-A3D0-444E-A24C-598892B8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910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CA98D-556B-45E4-9C35-3791906E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243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0-4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9A6B9-471B-4874-904E-B9FB27BA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понятный язык уровней риска в стиле HeatRisk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3362E7F5-5F37-4FCD-8E67-2599F3B0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2E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1505D-A6F3-4BA8-8896-08EE45BF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374A6-A8E4-499F-BBF3-B6B70F8E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 языка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BA55E-7280-4F27-AC01-CA0E3FE2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4345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English, Русский, Тоҷикӣ для публичных инструкций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B4ABA-80C9-4B9D-8B3F-A18F3451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6750"/>
            <a:ext cx="1809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2"/>
          </a:solidFill>
          <a:ln xmlns:a="http://schemas.openxmlformats.org/drawingml/2006/main" w="9525">
            <a:solidFill>
              <a:srgbClr val="314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835A2-D5AF-40E7-A770-DB3E0E59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066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54DE3-988D-4B3B-8504-83A25C2A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953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Прогноз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BDC79-6BF1-46E5-986F-D0EF493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0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6E754-19DC-4A88-A32A-11E45C54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28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Hotspots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05A34-66AC-405E-8E0A-F6010AD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33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DC65C-ADF9-4DF6-9B02-5967EDEC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622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Действия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056B2-3977-4EF8-AF18-82F3A2D2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FC98B-052A-4D82-B09E-A210D8FB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957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Пилот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58047-1048-4012-BE22-84B2B71B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0C92E-F608-4941-97C0-9BB05190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Источники: IFRC Tajikistan EAP; WHO heat and health; Open-Meteo; NWS HeatRisk.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5BA22-1487-4DA3-90BD-A07ED6F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58995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795FBD1-2E9B-418B-825A-493CFC02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DE6E2A-8A96-4391-AC70-29EF3017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54B354C-9E92-4F50-8F45-C2F94AC1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998C1DC-42D5-4101-983C-5802C774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90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rPr>
              <a:t>Опасная жара в городе проявляется неравномерно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381DF-7771-4FF9-AC38-5012D6CE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5667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Точка на карте не показывает, где заканчивается зона риска. Поэтому dashboard теперь использует прототипные границы hotspot-регионов и объясняет, почему место важно.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B3505BD2-F3DB-4D4D-9D95-CC60D770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76300"/>
            <a:ext cx="4572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4B61D-36B8-4656-AFA0-7F69A463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81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Ключевые городские узлы риска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BDA96-89B2-44BD-A180-89BFBB3D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81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AAF5B-C0C0-46C9-B35A-AE140A7D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5525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Рынок Панчшанбе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425CC-6989-48E1-BE5F-1D8B9EDB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02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толпы, продавцы, пешеходы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5591D-A5D1-49EB-8B43-2DD6D762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19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87A7E-6243-45EA-8CBD-492321F3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66900"/>
            <a:ext cx="66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45F2D-9D7B-4E24-842C-BF25F132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66900"/>
            <a:ext cx="63341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35564-8C4D-46B7-8F3E-A676F81A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F4927-0E72-45E5-8BAC-CAD20A20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383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Клиники и аптеки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E5AF9-EAC1-4CCC-B3D0-57BFCEA7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860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непрерывность помощи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1D3EB-1D26-49F9-8189-EB763516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67876-3380-46AA-BDA9-F7AFE65E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66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C57C4-37D4-4A5E-96E6-707615A9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58674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1EDDF-81AA-483E-8FA4-8E2315DB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60B0D-B363-426C-AE2E-14036B0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241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Школы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BE757-6EAF-44AD-AA13-D9ADF806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718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дети и дворы без тени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7A44F-0C78-4B5B-9300-47A46C2E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908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17D02-089A-48A8-BA7B-3C7EB2BC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66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A10A3-D916-4CBF-94DF-2849E6D2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49339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2C10B-D273-4959-8146-540F8020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38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1119E-4598-4946-A67A-9D1FBF69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099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Жилые кварталы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2EB87-BDAA-4495-B11B-A02E26EC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576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ночное накопление тепла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B60675-2DFB-4DC2-8C5D-DA504227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766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C265F-67E7-4556-91E7-DD51CE56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24300"/>
            <a:ext cx="66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B5D84-07E0-4B51-B556-9FEA7970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24300"/>
            <a:ext cx="57340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0F5B33-317A-4A00-933A-07D6E5EB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24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8C2D3-4457-4956-B7D9-53594C87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957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Остановки и дороги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81093E-1964-4386-AC7F-BC80591A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434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асфальт, ожидание, солнце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E6888F-9CE7-4EFA-9204-F059EABA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62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5872F1-EDAC-4FB8-8ABA-983D284C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0100"/>
            <a:ext cx="66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D6EAA7-5D66-4609-B136-059069FD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0100"/>
            <a:ext cx="600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panel">
            <a:extLst xmlns:a="http://schemas.openxmlformats.org/drawingml/2006/main">
              <a:ext uri="{FF2B5EF4-FFF2-40B4-BE49-F238E27FC236}">
                <a16:creationId xmlns:a16="http://schemas.microsoft.com/office/drawing/2014/main" id="{AA1DF36E-6044-4694-B9CE-6E6F3114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C"/>
          </a:solidFill>
          <a:ln xmlns:a="http://schemas.openxmlformats.org/drawingml/2006/main" w="9525">
            <a:solidFill>
              <a:srgbClr val="F0B8A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D21AD0-3598-4DD3-87E4-4B669C24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98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Нужно видеть не только «что жарко», но где и когда начинать ранние действия.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AE0E7B7B-1021-40F3-AFF0-A37A6677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B8D5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4BAA13-F44F-40CA-9F04-2B6051E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198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6B63"/>
                </a:solidFill>
                <a:latin typeface="Aptos"/>
                <a:ea typeface="Aptos"/>
                <a:cs typeface="Aptos"/>
              </a:rPr>
              <a:t>Границы помечены как прототипные, пока их не подтвердят GIS, датчики или полевые данные.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D929F9-1E9D-4039-8622-606F97B4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71DDAC-1E0A-491D-A7CE-631B8B9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Источники: NYC HVI; Urban Heat Risk Explorer; WRI Cool Cities Lab; локальные прототипные зоны HeatShield.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4FD8E4-30E1-4786-A962-B111245B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83517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CA7B024-47BF-4774-A488-BF93550B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E48AE0C-4712-4270-887A-D6418875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342F18-A369-4D91-804A-51C1B76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ОФИЦИАЛЬНЫЙ КОНТЕКСТ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6751284-6F5E-478D-98D0-92D83FF6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334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rPr>
              <a:t>Порог 39.5°C дает якорь, но городу нужна операционная подготовка раньше пика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65D8254B-5173-4401-B934-F1F0FE83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6863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435B1-9B78-4DD3-97B9-C312970C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39.5°C × 4 дня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02BA3-CFA3-4C15-9D32-24933006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Khujand/Sughd, июль-август, северный heatwave trigger в IFRC/Tajikistan EAP.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D0EDA5D4-31BF-42BF-BD14-4CBEC94F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4400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D5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3E3E2-AF8A-4197-B132-6CFFD903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4095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Официальные предупреждения должны оставаться за Таджикгидрометом и местными властями. HeatShield не выдает официальных alerts.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27E10-E6DA-4958-BBA4-1DC0CC87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200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CE54A-71B6-49F4-8AA1-2A9CC0E7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98435-682C-446A-851C-2B37435D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05350"/>
            <a:ext cx="1200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A1478-E975-4FB0-84E3-D2FF728E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День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6FB02-07B9-47A5-87FE-87FB1AA0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05350"/>
            <a:ext cx="1200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B3396-F40A-4135-8169-8FB0B0C9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День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33F30-B728-42A2-9570-0F4D2465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05350"/>
            <a:ext cx="1200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B40BF-5F15-4B9A-83AD-8BB9D96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День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AD0FD-4A97-49A3-A2F1-67135EFF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05350"/>
            <a:ext cx="1200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CD469-FA4C-45BC-81FA-DD8D3E4A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72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Действие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86896-ED6F-4FB9-B711-E4C1E55F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Логика dashboard: сравнить прогноз с порогом, найти 4-дневные серии, затем показать приоритетные места и инструкции.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D7FEF-6F50-4E27-A2CA-002AA4E3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D74DF-F5FC-4C98-8599-137F81E0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Источник: IFRC Tajikistan Heatwave Early Action Protocol; Tajik Hydromet caveat сохранен в UI.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8BD44-A74E-4DFB-9AFB-FAF11632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74148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5A826FC-70FA-47C5-8E59-B7D0B5CB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FCFB46-D806-4A86-9C95-3A145017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2C04BB-515B-4231-8E5A-5F40B5DD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БЕНЧМАРКИ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63C090A-6CA1-4354-BB08-E7667D45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rPr>
              <a:t>Лучшие heat-платформы объединяют уровни риска, уязвимость и сценарии действий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875E6455-6930-4FB3-BF0C-83306E70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0363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88760-40AC-4C49-97E0-C4ACF1C7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Платформа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4A1A4-7856-45DE-8FB1-10D68CDF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Что работает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8623B-9196-440A-B569-7EADE18D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Что перенесено в HeatShield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2A500-8439-4CD6-8EB6-5131D7E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5F6A0-055F-4078-9EE2-4DAF06AC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NWS HeatRisk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60E79-0B78-4349-A8E7-C785E856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1460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0-4 уровни и карта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3B4FC-DAD4-40D1-84CA-1C06CBF3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1460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Такая же шкала 0-4 для hotspot-регионов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8510F-F3D2-4F87-B602-941C05FE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C4FC3-1535-4423-BEF6-15D5FC39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CDC / GHHIN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E2453-3E2F-4E4E-ADB0-F3750D2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прогноз + советы населению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2961A-5126-4A01-A638-6B419114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resident-facing действия рядом с данными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18D01-1A66-4B17-A9DA-CD2258D9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04550-0151-4AC2-A7ED-3BED731A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NYC HVI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B0B3B-7AC2-4AD9-81F6-67AA267F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факторы уязвимости района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97B50-657F-45E2-B3EB-A38F385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1950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разбор: тень, толпы, асфальт, клиники, ночная жара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DEC16-F65D-449D-8F1A-29A871ED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B7EAC4-0CD4-42EC-B9A1-91F9CD1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WRI Cool Cities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FB9CF-A89D-4C1F-BAC1-92E2873E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719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сценарии охлаждения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CA119-EE2B-4E5C-8547-4AB0E957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деревья, тень, cool roofs, вода, cooling rooms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6008D-4140-48A4-A224-4D4F4961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5C990-B545-4E08-8E60-66C792F6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Heat Action Platform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04BE3-6712-4005-9572-77B9ED70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2440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Assess / Plan / Implement / Monitor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4B06D-4DF2-4A2A-88A6-280253D0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2440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операционный цикл для пилота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1E99C-F8ED-4A42-8987-2B136F1E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Результат: dashboard-first MVP без тяжелого GIS-пайплайна, но с честными границами доверия.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8B7C35-6E23-46E1-8E9F-72725447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46C913-EE9D-44E1-82D8-6ABADC25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Источники: NWS HeatRisk; CDC/GHHIN; NYC HVI; WRI Cool Cities Lab; Heat Action Platform; Forecaster.Health.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264168-4D63-4E39-A784-A3B4B269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78848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500149B-ED25-459F-A894-BC28EC79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E8417B-1E3C-4124-BE55-AC008168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138B346-B9BC-4B87-8386-97B1A3A6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КАК РАБОТАЕТ DASHBOARD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6D0E8A9-316E-425B-8A8A-4B575B6C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rPr>
              <a:t>Первый экран уже является рабочей системой: прогноз, карта, действия и источники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d4981f2d04529"/>
          <a:srcRect xmlns:a="http://schemas.openxmlformats.org/drawingml/2006/main" l="0" t="15391" r="0" b="15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33550"/>
            <a:ext cx="6572250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9F46F484-10DD-46BD-A995-7331C27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33718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4BDB0-1021-483F-B7A5-9723478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8341D-3AA2-4251-8C34-98C69F9D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431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937F1-7B16-4FF6-BE4E-A48F623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Assess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785D6-9E4A-4AE2-99B0-2541B855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Open-Meteo сравнивается с порогом 39.5°C и формирует неофициальный статус.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B09F5-079B-4B94-B9EE-529CCA8F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C44E4-43A1-4228-A474-AE42C09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575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908F9-60A1-4B65-AEAF-51CEA8C9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A8372-B599-4251-BC7C-D678EFA9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0517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Hotspot-регионы показывают, где нужны вода, тень, cool roofs или cooling rooms.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A5A0D-1E25-430E-818B-A1D45625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243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7B29E-F26E-48D2-9F5B-116E580F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719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7B0BF-E6E2-4EBD-AF1A-679FC1AA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1D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55352-73FE-45BA-A286-A8BE99F9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957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Resident, school, clinic и worker инструкции сразу доступны в трех языках.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102B5-D7D5-45CB-B5F9-63BD5AB3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5300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Никаких фейковых официальных предупреждений: каждый экран повторяет, что Hydromet и местные органы остаются источником официальных alerts.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E3F94-09B2-4266-AAFF-68DCFE44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1CDAA-E566-4A5B-8238-A1DC86CF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Скриншот: локальный HeatShield dashboard; источники: Open-Meteo, IFRC EAP, WHO heat-health guidance.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DCE2F-3704-4F18-B6FC-782AA5FB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18649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B8901E-07EF-4A05-B19A-1FE573E3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D1D70F5-2B81-41E0-A60F-8606FBE7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28AE08-CF66-4E02-ACD7-7307E030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ДИНАМИЧЕСКИЕ HOTSPOTS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B675A67-18DD-4854-8E5C-B690ED14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rPr>
              <a:t>Почасовой слайдер показывает hotspot-риск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4d8a1a61c44d1"/>
          <a:srcRect xmlns:a="http://schemas.openxmlformats.org/drawingml/2006/main" l="0" t="14845" r="0" b="14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38300"/>
            <a:ext cx="6762750" cy="3962400"/>
          </a:xfrm>
          <a:prstGeom xmlns:a="http://schemas.openxmlformats.org/drawingml/2006/main" prst="rect">
            <a:avLst/>
          </a:prstGeom>
        </p:spPr>
      </p:pic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A28C2CFA-51CE-4EA5-8C94-68491E38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105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C"/>
          </a:solidFill>
          <a:ln xmlns:a="http://schemas.openxmlformats.org/drawingml/2006/main" w="9525">
            <a:solidFill>
              <a:srgbClr val="F0B8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52990-6962-418E-A279-3C8C61B0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264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1. Границы hotspot-регионов видны как полигоны, не как абстрактные точки.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C38BC4C0-C472-4A94-9FD7-A974D01F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3105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8C8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CE5F9-1C04-4157-B0C0-D5763DC5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6207"/>
                </a:solidFill>
                <a:latin typeface="Aptos"/>
                <a:ea typeface="Aptos"/>
                <a:cs typeface="Aptos"/>
              </a:rPr>
              <a:t>2. Цвет зоны меняется по hourly forecast: apparent temperature, radiation, humidity, wind.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9B945B6B-299E-4AB4-AFE9-0444D109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3105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B8D5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E4309-0E02-4A58-8589-A85A364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264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6B63"/>
                </a:solidFill>
                <a:latin typeface="Aptos"/>
                <a:ea typeface="Aptos"/>
                <a:cs typeface="Aptos"/>
              </a:rPr>
              <a:t>3. Речной слой скрыт по умолчанию и включается только как мягкий контекст охлаждения.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53F53-1639-4B19-9B11-476040EE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DD9D9-2810-43D8-9D4B-C85A4204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Метод: Open-Meteo hourly forecast + prototype exposure profiles; карта не является официальным GIS risk raster.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CC864-F5F4-4473-942D-B4AE86D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63159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31D067C-31AD-4F62-A29C-12883089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554713D-7AB7-4659-8EC9-169C3372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F0E008-DCAE-4B29-A7FA-FE9F542B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МУЛЬТИЯЗЫЧНЫЕ ИНСТРУКЦИИ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0849200-3B9F-4E2E-82F1-E3EA2470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rPr>
              <a:t>Польза появляется, когда советы понятны жителям, школам, клиникам и работникам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715DB622-1465-41E7-AEB2-455ECEDF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9D714-75D4-4B2E-AE22-3C19F92E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Жители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D190C-DD39-457B-94D6-983DF70E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2-3 дневных часа в прохладном месте; пить воду до жажды; проверить пожилых соседей.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DB8D5D56-F94B-425E-8733-E13F34BF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E12B1-B690-400F-A4F2-030F4901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Школы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776F2-4531-40D7-9AE4-5D6F6F3D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289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Спорт и работа на улице утром; теневые водные перерывы; прохладная комната для симптомов.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607536D-2D1F-408F-AD57-212F76D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C7311-ACF4-42DC-967F-8CDFA429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Клиники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281F6-F271-42E2-82D5-D421A5C2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671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Регидратация, прохладный триаж, список пожилых, беременных и хронических пациентов.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8BE7AA02-7A97-4212-8B6E-92A065A7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01B22-CC16-4A99-9BC8-8DB6A148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Работники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82B94-62BB-4053-AB20-2AF29102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053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1D"/>
                </a:solidFill>
                <a:latin typeface="Aptos"/>
                <a:ea typeface="Aptos"/>
                <a:cs typeface="Aptos"/>
              </a:rPr>
              <a:t>Режим вода-отдых-тень; пары для проверки симптомов; остановка тяжелых задач в пик жары.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4FA3667-553F-4EAA-A175-C046F376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B8D5CE"/>
            </a:solidFill>
            <a:prstDash val="solid"/>
          </a:ln>
        </p:spPr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D4A36E96-1794-4B38-BF0A-D1FC72F6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8C878"/>
            </a:solidFill>
            <a:prstDash val="solid"/>
          </a:ln>
        </p:spPr>
      </p: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2ED6A89C-0ED0-488F-9AB8-882A6E1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91150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C"/>
          </a:solidFill>
          <a:ln xmlns:a="http://schemas.openxmlformats.org/drawingml/2006/main" w="9525">
            <a:solidFill>
              <a:srgbClr val="F0B8A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521A7-86A2-4BD8-A8B5-974EB214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6B63"/>
                </a:solidFill>
                <a:latin typeface="Aptos"/>
                <a:ea typeface="Aptos"/>
                <a:cs typeface="Aptos"/>
              </a:rPr>
              <a:t>English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C1E4F-BB18-46A2-AEEA-12B44186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43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16207"/>
                </a:solidFill>
                <a:latin typeface="Aptos"/>
                <a:ea typeface="Aptos"/>
                <a:cs typeface="Aptos"/>
              </a:rPr>
              <a:t>Русский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9B1AE4-695F-4DA3-A162-BDD43E82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43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Тоҷикӣ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84801-E35A-4042-A3C5-67A055BC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90280-48E6-436B-9FBD-F22A5845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Источники: WHO heat and health; WHO Europe hot weather advice; HeatShield localization dictionary.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C45E2-767C-452A-A987-29BB8AA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39665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1D3998B-5372-4008-8946-7B976943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BE997B-20E0-463C-9F12-17ED7C81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1783FE-5828-41DA-843B-3CE00B71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АРХИТЕКТУРА И ОГРАНИЧЕНИЯ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85FA1BC-114B-461B-ACF4-33353684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rPr>
              <a:t>Доверие строится на прозрачной границе между live forecast, прототипом и официальными предупреждениями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F118B920-C1DB-42BB-8886-7BD966DD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84D44-0C7A-4167-898B-A7FC630D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Live forecast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03D5C-FC40-48DF-BFCC-69DE0BAF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Open-Meteo daily + hourly: температура, apparent temp, humidity, wind, UV, radiation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CA371-5ECA-4A05-ADCE-59D6A081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C8F5B0F-18A1-45D5-9E9B-7AF7A538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2E901-1F9D-4912-B9F1-F6D926EB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Risk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D8853-B32E-4EAF-A0BB-E31B3C16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39.5°C threshold, 4-day streak, 0-4 hotspot score by hour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E442A-5C0A-46B1-A0E4-173FECFE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DB5890A9-B7EE-42BE-9F8E-5B0CD55F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1ADA1-3D33-406E-9C27-A107DC1B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Prototype zones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92772-6952-40C6-A8F9-774159DB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границы, exposure profile, intervention options, confidence label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11250-A58F-4145-8E57-834E8805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6D711E09-96FC-4E52-AF4E-6D9DA73F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764C5-003A-4C25-8894-1D627ECB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860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02C8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02C8B"/>
                </a:solidFill>
                <a:latin typeface="Aptos"/>
                <a:ea typeface="Aptos"/>
                <a:cs typeface="Aptos"/>
              </a:rPr>
              <a:t>Public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A4DBF-6541-429B-9559-61465391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resident / school / clinic / worker guidance in EN/RU/TG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EB2C2E9E-E2D5-42E4-B1FE-DC75891C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962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8C8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EA289-10C4-40CB-8E63-C7AA52EC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16207"/>
                </a:solidFill>
                <a:latin typeface="Aptos"/>
                <a:ea typeface="Aptos"/>
                <a:cs typeface="Aptos"/>
              </a:rPr>
              <a:t>Ограничения MVP: прогноз неофициальный; зоны не являются административными границами; Landsat/WorldPop/OSM еще не превращены в обработанный raster; emergency workflows нужно подтвердить локально.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D4673-5D59-439A-9546-342312B4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233AA-6A87-4A82-BD3B-F5CCEF46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Источники: Open-Meteo docs; NASA POWER; ERA5-HEAT; Landsat L2; WorldPop; HOTOSM health facilities.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B6007-F33B-4149-818E-5F31F67C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893595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DFA5F2D-2FCC-48FE-84A0-A40CDBCF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DA44CA-DB9B-4090-B5B2-996F4DD6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3D6C8AC-6ADE-456B-9768-C6A6FEF5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ОЖИДАЕМЫЙ ЭФФЕКТ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2674B51-900B-4E0A-B99E-B14DBCC2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6201D"/>
                </a:solidFill>
                <a:latin typeface="Aptos Display"/>
                <a:ea typeface="Aptos Display"/>
                <a:cs typeface="Aptos Display"/>
              </a:rPr>
              <a:t>HeatShield помогает действовать раньше и охлаждать точечно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D9529B93-DBFF-4115-BEE1-CD65FE17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E8A03-9D29-4C51-AD0D-28E22307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D9FBB-B6F0-426B-9B41-8674FF9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Раньше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BBDD7-A6EC-4A7E-B17D-BE9A197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общая жара воспринималась как городская проблема без локального приоритета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3C2E184-95F2-4C42-BA03-07C7ABB2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263EE-CA93-45AC-828E-216FA2ED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303CA-4F2F-4472-B795-CB1D925B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2410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Теперь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EF6DF-CF32-4DCE-B6AD-2917BF16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hourly hotspot-регионы показывают, где нужны вода, тень и outreach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41B5CAD9-3298-4261-B544-73506D77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E56CC-C312-4E1F-9A84-82AA3AE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89971-275A-49F4-A17C-3B75D83B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241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Пилот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A4A60-4100-492F-8794-66210108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датчики/GIS/партнеры смогут подтвердить и откалибровать зоны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C6AD4EC-0682-4365-B583-687165AA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D8FBA-F62F-4F2D-BFB2-56F8E8F0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Ранний сигнал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921F6-4317-4063-B1EA-5D8061A2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неофициальный forecast + IFRC threshold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54E29B94-4EEB-42CA-AC6E-87154A6A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280BD-B400-4604-A026-C8011B3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53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Приоритизация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3C380F-9966-4BAA-A2BA-6DFA8045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910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рынки, клиники, школы, транспорт, жилье</a:t>
            </a:r>
          </a:p>
        </p:txBody>
      </p:sp>
      <p:sp>
        <p:nvSpPr>
          <p:cNvPr id="23" name="panel">
            <a:extLst xmlns:a="http://schemas.openxmlformats.org/drawingml/2006/main">
              <a:ext uri="{FF2B5EF4-FFF2-40B4-BE49-F238E27FC236}">
                <a16:creationId xmlns:a16="http://schemas.microsoft.com/office/drawing/2014/main" id="{F69D5E47-32BD-44DC-B2D0-B1BB25C9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C6D47-061C-4AD3-8A49-E2EDBE65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053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Действия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58850B-4A9B-4ABB-A6B3-4B3A7788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910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shade, water, cooling rooms, cool roofs</a:t>
            </a:r>
          </a:p>
        </p:txBody>
      </p:sp>
      <p:sp>
        <p:nvSpPr>
          <p:cNvPr id="26" name="panel">
            <a:extLst xmlns:a="http://schemas.openxmlformats.org/drawingml/2006/main">
              <a:ext uri="{FF2B5EF4-FFF2-40B4-BE49-F238E27FC236}">
                <a16:creationId xmlns:a16="http://schemas.microsoft.com/office/drawing/2014/main" id="{06540792-5F76-495A-9B26-B34E1B07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EA636A-B457-43EC-BA6C-6EA22CB2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053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Мониторинг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CB939-A4FB-44E6-B3C8-01DCF9A7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910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результаты, sensor checks, местная обратная связь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18732-E2D7-497B-80C1-FA103EDF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Важно: эффект сформулирован как ожидаемый для пилота, не как уже измеренный результат.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E1C2F-00CF-4489-B443-0F503748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0C22F1-C279-47DE-B0C4-B11999DE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Источники: WRI Cool Cities Lab; Heat Action Platform; WMO/World Bank early-warning benefit framing.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F754EE-C0FC-42C6-8F65-261F96ED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6572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78BA290-5365-40A8-9632-FA463129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F4807C5-BBF5-4ADE-9BB6-0401684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E0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AD77BF-C490-4518-B6A1-59CE6892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0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C6"/>
                </a:solidFill>
                <a:latin typeface="Aptos"/>
                <a:ea typeface="Aptos"/>
                <a:cs typeface="Aptos"/>
              </a:rPr>
              <a:t>ROADMAP ПИЛОТА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D24581D-9B63-48FD-9B8A-BEDADCA1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191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Следующий шаг: превратить прототип в локально валидированную систему ранних действий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8195BCBC-116C-4ADC-88BA-620930DF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2E"/>
          </a:solidFill>
          <a:ln xmlns:a="http://schemas.openxmlformats.org/drawingml/2006/main" w="9525">
            <a:solidFill>
              <a:srgbClr val="405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53D5A-A634-41AC-8060-35E10523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5D458-7EBF-48C0-81AA-051EA652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Подтвердить зоны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DFD59-822D-4028-B92C-9E00E922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GIS, OSM, обходы, школы, клиники, рынки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B96D668-5CB5-46FD-B0BD-36312D0A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2E"/>
          </a:solidFill>
          <a:ln xmlns:a="http://schemas.openxmlformats.org/drawingml/2006/main" w="9525">
            <a:solidFill>
              <a:srgbClr val="4051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7D62A-2AC6-4366-A876-5339828B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A524F-9BFB-4BD0-8337-D991FEA7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Откалибровать риск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69F4B-C9D1-4DB2-A1DC-C47BDCCF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датчики, Hydromet/station data, летние наблюдения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0C1F9620-3BF1-4053-B792-4C9920CC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7180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2E"/>
          </a:solidFill>
          <a:ln xmlns:a="http://schemas.openxmlformats.org/drawingml/2006/main" w="9525">
            <a:solidFill>
              <a:srgbClr val="4051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F7DD9-0164-47E5-AA03-9FD55E2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0CA5A-A8DC-4091-8FD6-8E658A66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Запустить действия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C8A26-8F15-4904-A024-78B7EED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вода, тень, cooling rooms, SMS/плакаты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E085EA7-47F4-4985-A200-42DF122B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2E"/>
          </a:solidFill>
          <a:ln xmlns:a="http://schemas.openxmlformats.org/drawingml/2006/main" w="9525">
            <a:solidFill>
              <a:srgbClr val="4051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A93FA-D451-4BE9-810C-B2B54399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04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EBB42-EE09-47B0-B4CB-162ABEB2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Измерить эффект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C052A-815B-4679-AF30-5F4509FF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481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usage, outreach, heat illness signals, lessons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E09EFD2-82CA-4392-8178-3648CD3A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2"/>
          </a:solidFill>
          <a:ln xmlns:a="http://schemas.openxmlformats.org/drawingml/2006/main" w="9525">
            <a:solidFill>
              <a:srgbClr val="4051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E23119-2026-4248-9535-88F1AD0B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878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7E2"/>
                </a:solidFill>
                <a:latin typeface="Aptos"/>
                <a:ea typeface="Aptos"/>
                <a:cs typeface="Aptos"/>
              </a:rPr>
              <a:t>Что нужно для пилота: локальные партнеры, верификация emergency contacts, минимальная сеть датчиков, доступ к официальным наблюдениям и согласованный протокол публичных сообщений.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05760-A4F3-4165-B319-38271F3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92CA2-B0AD-4909-AAE8-7E12B3D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76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761"/>
                </a:solidFill>
                <a:latin typeface="Aptos"/>
                <a:ea typeface="Aptos"/>
                <a:cs typeface="Aptos"/>
              </a:rPr>
              <a:t>Финальный слайд: roadmap MVP -&gt; validated pilot. Официальные предупреждения остаются за ответственными органами.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D8E4E-092D-468C-82B2-34C40F1F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6B6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7950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2026-06-25T11:17:50.9390000Z</dcterms:created>
  <dcterms:modified xsi:type="dcterms:W3CDTF">2026-06-25T11:17:50.9390000Z</dcterms:modified>
</coreProperties>
</file>